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BC956E-6AFD-4C78-924C-04B2728727B4}" v="84" dt="2025-12-16T20:24:51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79E95B-1D25-47A1-A395-F3A4C47122F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9A0D485-D4F1-4AA8-BCB0-CAEF5B15030A}">
      <dgm:prSet phldrT="[Text]"/>
      <dgm:spPr/>
      <dgm:t>
        <a:bodyPr/>
        <a:lstStyle/>
        <a:p>
          <a:r>
            <a:rPr lang="en-US" dirty="0"/>
            <a:t>1. Voice Interview</a:t>
          </a:r>
        </a:p>
        <a:p>
          <a:r>
            <a:rPr lang="en-US" b="1" i="0" dirty="0"/>
            <a:t>Candidates</a:t>
          </a:r>
          <a:r>
            <a:rPr lang="en-US" b="0" i="0" dirty="0"/>
            <a:t> speak directly to </a:t>
          </a:r>
          <a:r>
            <a:rPr lang="en-US" b="1" i="0" dirty="0"/>
            <a:t>CA</a:t>
          </a:r>
          <a:r>
            <a:rPr lang="en-US" b="0" i="0" dirty="0"/>
            <a:t>. He conducts a voice interview to understand their skills, experience, and career goals.</a:t>
          </a:r>
        </a:p>
        <a:p>
          <a:r>
            <a:rPr lang="en-US" b="1" i="0" dirty="0"/>
            <a:t>Hiring Managers</a:t>
          </a:r>
          <a:r>
            <a:rPr lang="en-US" b="0" i="0" dirty="0"/>
            <a:t> speak directly to </a:t>
          </a:r>
          <a:r>
            <a:rPr lang="en-US" b="1" i="0" dirty="0"/>
            <a:t>EA</a:t>
          </a:r>
          <a:r>
            <a:rPr lang="en-US" b="0" i="0" dirty="0"/>
            <a:t>. She conducts a voice interview to understand the open role, requirements, and ideal candidate profile.</a:t>
          </a:r>
          <a:endParaRPr lang="en-IN" dirty="0"/>
        </a:p>
      </dgm:t>
    </dgm:pt>
    <dgm:pt modelId="{42BC4058-3FF8-4183-8292-4D5164D83FE0}" type="parTrans" cxnId="{C8C7A8A0-CC81-43F2-B3E7-75020B1E5E8F}">
      <dgm:prSet/>
      <dgm:spPr/>
      <dgm:t>
        <a:bodyPr/>
        <a:lstStyle/>
        <a:p>
          <a:endParaRPr lang="en-IN"/>
        </a:p>
      </dgm:t>
    </dgm:pt>
    <dgm:pt modelId="{FF759B2A-4029-4651-9E19-4324866EC48F}" type="sibTrans" cxnId="{C8C7A8A0-CC81-43F2-B3E7-75020B1E5E8F}">
      <dgm:prSet/>
      <dgm:spPr/>
      <dgm:t>
        <a:bodyPr/>
        <a:lstStyle/>
        <a:p>
          <a:endParaRPr lang="en-IN"/>
        </a:p>
      </dgm:t>
    </dgm:pt>
    <dgm:pt modelId="{F07722EC-8012-4D66-8CB7-A6C338EAD790}">
      <dgm:prSet phldrT="[Text]"/>
      <dgm:spPr/>
      <dgm:t>
        <a:bodyPr/>
        <a:lstStyle/>
        <a:p>
          <a:r>
            <a:rPr lang="en-US" dirty="0"/>
            <a:t>2. The Agent Collaboration</a:t>
          </a:r>
        </a:p>
        <a:p>
          <a:r>
            <a:rPr lang="en-US" dirty="0"/>
            <a:t>After a successful voice interview, both the agents share a one page summary with each other to see if they have matching roles for the candidates.</a:t>
          </a:r>
          <a:endParaRPr lang="en-IN" dirty="0"/>
        </a:p>
      </dgm:t>
    </dgm:pt>
    <dgm:pt modelId="{A0BC9BFD-BCF6-4D3A-8430-38D4E1F143C7}" type="parTrans" cxnId="{9B50EA80-C23A-4D20-8DC9-C0F161806A30}">
      <dgm:prSet/>
      <dgm:spPr/>
      <dgm:t>
        <a:bodyPr/>
        <a:lstStyle/>
        <a:p>
          <a:endParaRPr lang="en-IN"/>
        </a:p>
      </dgm:t>
    </dgm:pt>
    <dgm:pt modelId="{FABD78EE-BD3D-4A9B-BF1B-A20DEBC527FC}" type="sibTrans" cxnId="{9B50EA80-C23A-4D20-8DC9-C0F161806A30}">
      <dgm:prSet/>
      <dgm:spPr/>
      <dgm:t>
        <a:bodyPr/>
        <a:lstStyle/>
        <a:p>
          <a:endParaRPr lang="en-IN"/>
        </a:p>
      </dgm:t>
    </dgm:pt>
    <dgm:pt modelId="{E32D4758-FE25-4F01-A4E6-16B2AAC4AAC2}">
      <dgm:prSet phldrT="[Text]"/>
      <dgm:spPr/>
      <dgm:t>
        <a:bodyPr/>
        <a:lstStyle/>
        <a:p>
          <a:r>
            <a:rPr lang="en-US" dirty="0"/>
            <a:t>3.  The Scout Layer</a:t>
          </a:r>
        </a:p>
        <a:p>
          <a:r>
            <a:rPr lang="en-IN" dirty="0"/>
            <a:t>Sometimes the agents won’t have an immediate match in the database, this is when they call </a:t>
          </a:r>
          <a:r>
            <a:rPr lang="en-IN" b="1" dirty="0"/>
            <a:t>Scout. </a:t>
          </a:r>
          <a:endParaRPr lang="en-IN" b="0" dirty="0"/>
        </a:p>
        <a:p>
          <a:r>
            <a:rPr lang="en-IN" b="0" dirty="0"/>
            <a:t>When EA has an opening but no internal candidates, Scout searches LinkedIn via x-ray search to find profiles which match the job description and sends them to the CA to initiate contact with the candidates</a:t>
          </a:r>
          <a:endParaRPr lang="en-IN" dirty="0"/>
        </a:p>
      </dgm:t>
    </dgm:pt>
    <dgm:pt modelId="{F6E6F5E5-82A4-4199-A029-B40B5FEE0A94}" type="parTrans" cxnId="{69436534-B0AB-497E-BF8F-50F2417A8625}">
      <dgm:prSet/>
      <dgm:spPr/>
      <dgm:t>
        <a:bodyPr/>
        <a:lstStyle/>
        <a:p>
          <a:endParaRPr lang="en-IN"/>
        </a:p>
      </dgm:t>
    </dgm:pt>
    <dgm:pt modelId="{0462CA37-ADB2-4759-8558-929392EC200D}" type="sibTrans" cxnId="{69436534-B0AB-497E-BF8F-50F2417A8625}">
      <dgm:prSet/>
      <dgm:spPr/>
      <dgm:t>
        <a:bodyPr/>
        <a:lstStyle/>
        <a:p>
          <a:endParaRPr lang="en-IN"/>
        </a:p>
      </dgm:t>
    </dgm:pt>
    <dgm:pt modelId="{8D75ED18-31A5-4901-9149-AF9B69D0F134}">
      <dgm:prSet/>
      <dgm:spPr/>
      <dgm:t>
        <a:bodyPr/>
        <a:lstStyle/>
        <a:p>
          <a:r>
            <a:rPr lang="en-US" dirty="0"/>
            <a:t>4. The Scout Layer</a:t>
          </a:r>
        </a:p>
        <a:p>
          <a:r>
            <a:rPr lang="en-IN" dirty="0"/>
            <a:t>CA has a stellar candidate but no internal roles. Scout looks for roles on LinkedIn and sends the leads to the EA. She then initiates contact with the hiring managers at those companies.</a:t>
          </a:r>
        </a:p>
      </dgm:t>
    </dgm:pt>
    <dgm:pt modelId="{0636DDB4-EE05-4ACA-99B6-DC136A1AB07E}" type="parTrans" cxnId="{F08A6573-A2D9-4C06-942D-BB2E8F7C5FC5}">
      <dgm:prSet/>
      <dgm:spPr/>
      <dgm:t>
        <a:bodyPr/>
        <a:lstStyle/>
        <a:p>
          <a:endParaRPr lang="en-IN"/>
        </a:p>
      </dgm:t>
    </dgm:pt>
    <dgm:pt modelId="{7DABFE3A-C7BD-44BC-86AD-0D3B59DC6775}" type="sibTrans" cxnId="{F08A6573-A2D9-4C06-942D-BB2E8F7C5FC5}">
      <dgm:prSet/>
      <dgm:spPr/>
      <dgm:t>
        <a:bodyPr/>
        <a:lstStyle/>
        <a:p>
          <a:endParaRPr lang="en-IN"/>
        </a:p>
      </dgm:t>
    </dgm:pt>
    <dgm:pt modelId="{6AA55283-BF8B-4BE5-A399-7C1EEBCAA660}">
      <dgm:prSet/>
      <dgm:spPr/>
      <dgm:t>
        <a:bodyPr/>
        <a:lstStyle/>
        <a:p>
          <a:r>
            <a:rPr lang="en-US" dirty="0"/>
            <a:t>5. Output</a:t>
          </a:r>
        </a:p>
        <a:p>
          <a:r>
            <a:rPr lang="en-IN" dirty="0"/>
            <a:t>Both the agents send messages to candidates and employers about relevant job opening and candidates respectively.</a:t>
          </a:r>
        </a:p>
      </dgm:t>
    </dgm:pt>
    <dgm:pt modelId="{B7EC1648-741A-4D96-AC4F-C7A3974D6A35}" type="parTrans" cxnId="{1714ACDD-F7C9-45E0-B97C-37BDC1025283}">
      <dgm:prSet/>
      <dgm:spPr/>
      <dgm:t>
        <a:bodyPr/>
        <a:lstStyle/>
        <a:p>
          <a:endParaRPr lang="en-IN"/>
        </a:p>
      </dgm:t>
    </dgm:pt>
    <dgm:pt modelId="{891580C8-676D-4961-A154-8B85D5909A72}" type="sibTrans" cxnId="{1714ACDD-F7C9-45E0-B97C-37BDC1025283}">
      <dgm:prSet/>
      <dgm:spPr/>
      <dgm:t>
        <a:bodyPr/>
        <a:lstStyle/>
        <a:p>
          <a:endParaRPr lang="en-IN"/>
        </a:p>
      </dgm:t>
    </dgm:pt>
    <dgm:pt modelId="{67F022E8-63EF-4DEF-80BF-A4E02D205CE9}" type="pres">
      <dgm:prSet presAssocID="{6579E95B-1D25-47A1-A395-F3A4C47122F9}" presName="Name0" presStyleCnt="0">
        <dgm:presLayoutVars>
          <dgm:dir/>
          <dgm:resizeHandles val="exact"/>
        </dgm:presLayoutVars>
      </dgm:prSet>
      <dgm:spPr/>
    </dgm:pt>
    <dgm:pt modelId="{C8BE8134-A8EB-4369-A3BB-8760FD2C39F8}" type="pres">
      <dgm:prSet presAssocID="{B9A0D485-D4F1-4AA8-BCB0-CAEF5B15030A}" presName="node" presStyleLbl="node1" presStyleIdx="0" presStyleCnt="5">
        <dgm:presLayoutVars>
          <dgm:bulletEnabled val="1"/>
        </dgm:presLayoutVars>
      </dgm:prSet>
      <dgm:spPr/>
    </dgm:pt>
    <dgm:pt modelId="{997B456F-79E6-4A5B-8E70-81FD8AC22825}" type="pres">
      <dgm:prSet presAssocID="{FF759B2A-4029-4651-9E19-4324866EC48F}" presName="sibTrans" presStyleLbl="sibTrans2D1" presStyleIdx="0" presStyleCnt="4"/>
      <dgm:spPr/>
    </dgm:pt>
    <dgm:pt modelId="{3376212D-2C74-47D1-816E-9A21EC04CC71}" type="pres">
      <dgm:prSet presAssocID="{FF759B2A-4029-4651-9E19-4324866EC48F}" presName="connectorText" presStyleLbl="sibTrans2D1" presStyleIdx="0" presStyleCnt="4"/>
      <dgm:spPr/>
    </dgm:pt>
    <dgm:pt modelId="{96E0C734-DCF6-4990-AA77-E8718F247730}" type="pres">
      <dgm:prSet presAssocID="{F07722EC-8012-4D66-8CB7-A6C338EAD790}" presName="node" presStyleLbl="node1" presStyleIdx="1" presStyleCnt="5">
        <dgm:presLayoutVars>
          <dgm:bulletEnabled val="1"/>
        </dgm:presLayoutVars>
      </dgm:prSet>
      <dgm:spPr/>
    </dgm:pt>
    <dgm:pt modelId="{CA03C3C0-1A43-4FD1-B21E-19614510C889}" type="pres">
      <dgm:prSet presAssocID="{FABD78EE-BD3D-4A9B-BF1B-A20DEBC527FC}" presName="sibTrans" presStyleLbl="sibTrans2D1" presStyleIdx="1" presStyleCnt="4"/>
      <dgm:spPr/>
    </dgm:pt>
    <dgm:pt modelId="{F2CCEC77-60CA-41DD-8CCB-18A64EEAAD04}" type="pres">
      <dgm:prSet presAssocID="{FABD78EE-BD3D-4A9B-BF1B-A20DEBC527FC}" presName="connectorText" presStyleLbl="sibTrans2D1" presStyleIdx="1" presStyleCnt="4"/>
      <dgm:spPr/>
    </dgm:pt>
    <dgm:pt modelId="{9CAA968E-7C54-45F6-A3A0-1BAD29CAE8C6}" type="pres">
      <dgm:prSet presAssocID="{E32D4758-FE25-4F01-A4E6-16B2AAC4AAC2}" presName="node" presStyleLbl="node1" presStyleIdx="2" presStyleCnt="5">
        <dgm:presLayoutVars>
          <dgm:bulletEnabled val="1"/>
        </dgm:presLayoutVars>
      </dgm:prSet>
      <dgm:spPr/>
    </dgm:pt>
    <dgm:pt modelId="{B196C6D9-F756-49A1-8E72-8398E618922C}" type="pres">
      <dgm:prSet presAssocID="{0462CA37-ADB2-4759-8558-929392EC200D}" presName="sibTrans" presStyleLbl="sibTrans2D1" presStyleIdx="2" presStyleCnt="4" custScaleX="913679" custLinFactX="400000" custLinFactY="14933" custLinFactNeighborX="442270" custLinFactNeighborY="100000"/>
      <dgm:spPr/>
    </dgm:pt>
    <dgm:pt modelId="{A3086B9D-9FB2-466D-B572-0F0650DB511E}" type="pres">
      <dgm:prSet presAssocID="{0462CA37-ADB2-4759-8558-929392EC200D}" presName="connectorText" presStyleLbl="sibTrans2D1" presStyleIdx="2" presStyleCnt="4"/>
      <dgm:spPr/>
    </dgm:pt>
    <dgm:pt modelId="{A14E462F-8D5E-4602-BDEE-3B9EBE340BAB}" type="pres">
      <dgm:prSet presAssocID="{8D75ED18-31A5-4901-9149-AF9B69D0F134}" presName="node" presStyleLbl="node1" presStyleIdx="3" presStyleCnt="5" custLinFactX="-121424" custLinFactY="7132" custLinFactNeighborX="-200000" custLinFactNeighborY="100000">
        <dgm:presLayoutVars>
          <dgm:bulletEnabled val="1"/>
        </dgm:presLayoutVars>
      </dgm:prSet>
      <dgm:spPr/>
    </dgm:pt>
    <dgm:pt modelId="{AAF4E498-6A2C-4E1A-BD22-D89E7E5C930F}" type="pres">
      <dgm:prSet presAssocID="{7DABFE3A-C7BD-44BC-86AD-0D3B59DC6775}" presName="sibTrans" presStyleLbl="sibTrans2D1" presStyleIdx="3" presStyleCnt="4"/>
      <dgm:spPr/>
    </dgm:pt>
    <dgm:pt modelId="{195B570D-73D2-4469-A3A6-BF33B97A91D2}" type="pres">
      <dgm:prSet presAssocID="{7DABFE3A-C7BD-44BC-86AD-0D3B59DC6775}" presName="connectorText" presStyleLbl="sibTrans2D1" presStyleIdx="3" presStyleCnt="4"/>
      <dgm:spPr/>
    </dgm:pt>
    <dgm:pt modelId="{DA0A1A2B-138F-4DCA-98F9-78B5DD65B7FD}" type="pres">
      <dgm:prSet presAssocID="{6AA55283-BF8B-4BE5-A399-7C1EEBCAA660}" presName="node" presStyleLbl="node1" presStyleIdx="4" presStyleCnt="5" custLinFactX="-329381" custLinFactY="7132" custLinFactNeighborX="-400000" custLinFactNeighborY="100000">
        <dgm:presLayoutVars>
          <dgm:bulletEnabled val="1"/>
        </dgm:presLayoutVars>
      </dgm:prSet>
      <dgm:spPr/>
    </dgm:pt>
  </dgm:ptLst>
  <dgm:cxnLst>
    <dgm:cxn modelId="{0AEFC60B-25C9-498F-B8E3-2F641A9D1C17}" type="presOf" srcId="{0462CA37-ADB2-4759-8558-929392EC200D}" destId="{A3086B9D-9FB2-466D-B572-0F0650DB511E}" srcOrd="1" destOrd="0" presId="urn:microsoft.com/office/officeart/2005/8/layout/process1"/>
    <dgm:cxn modelId="{6990CF12-4F16-4AA1-A20B-E73DA78788C0}" type="presOf" srcId="{0462CA37-ADB2-4759-8558-929392EC200D}" destId="{B196C6D9-F756-49A1-8E72-8398E618922C}" srcOrd="0" destOrd="0" presId="urn:microsoft.com/office/officeart/2005/8/layout/process1"/>
    <dgm:cxn modelId="{69436534-B0AB-497E-BF8F-50F2417A8625}" srcId="{6579E95B-1D25-47A1-A395-F3A4C47122F9}" destId="{E32D4758-FE25-4F01-A4E6-16B2AAC4AAC2}" srcOrd="2" destOrd="0" parTransId="{F6E6F5E5-82A4-4199-A029-B40B5FEE0A94}" sibTransId="{0462CA37-ADB2-4759-8558-929392EC200D}"/>
    <dgm:cxn modelId="{AAA11F42-A00F-44D2-B2B3-A3BE6BAEA3FA}" type="presOf" srcId="{8D75ED18-31A5-4901-9149-AF9B69D0F134}" destId="{A14E462F-8D5E-4602-BDEE-3B9EBE340BAB}" srcOrd="0" destOrd="0" presId="urn:microsoft.com/office/officeart/2005/8/layout/process1"/>
    <dgm:cxn modelId="{ABF0C950-99E5-4233-BAD9-A24ACA57B1EE}" type="presOf" srcId="{FABD78EE-BD3D-4A9B-BF1B-A20DEBC527FC}" destId="{CA03C3C0-1A43-4FD1-B21E-19614510C889}" srcOrd="0" destOrd="0" presId="urn:microsoft.com/office/officeart/2005/8/layout/process1"/>
    <dgm:cxn modelId="{DF14CB70-2C93-45ED-80BA-D079060E9766}" type="presOf" srcId="{7DABFE3A-C7BD-44BC-86AD-0D3B59DC6775}" destId="{AAF4E498-6A2C-4E1A-BD22-D89E7E5C930F}" srcOrd="0" destOrd="0" presId="urn:microsoft.com/office/officeart/2005/8/layout/process1"/>
    <dgm:cxn modelId="{F08A6573-A2D9-4C06-942D-BB2E8F7C5FC5}" srcId="{6579E95B-1D25-47A1-A395-F3A4C47122F9}" destId="{8D75ED18-31A5-4901-9149-AF9B69D0F134}" srcOrd="3" destOrd="0" parTransId="{0636DDB4-EE05-4ACA-99B6-DC136A1AB07E}" sibTransId="{7DABFE3A-C7BD-44BC-86AD-0D3B59DC6775}"/>
    <dgm:cxn modelId="{9B50EA80-C23A-4D20-8DC9-C0F161806A30}" srcId="{6579E95B-1D25-47A1-A395-F3A4C47122F9}" destId="{F07722EC-8012-4D66-8CB7-A6C338EAD790}" srcOrd="1" destOrd="0" parTransId="{A0BC9BFD-BCF6-4D3A-8430-38D4E1F143C7}" sibTransId="{FABD78EE-BD3D-4A9B-BF1B-A20DEBC527FC}"/>
    <dgm:cxn modelId="{E7D20D85-1F48-44B8-B9A4-123035DFCAAF}" type="presOf" srcId="{E32D4758-FE25-4F01-A4E6-16B2AAC4AAC2}" destId="{9CAA968E-7C54-45F6-A3A0-1BAD29CAE8C6}" srcOrd="0" destOrd="0" presId="urn:microsoft.com/office/officeart/2005/8/layout/process1"/>
    <dgm:cxn modelId="{75F44C94-ADA9-453D-9099-B5210709D210}" type="presOf" srcId="{FABD78EE-BD3D-4A9B-BF1B-A20DEBC527FC}" destId="{F2CCEC77-60CA-41DD-8CCB-18A64EEAAD04}" srcOrd="1" destOrd="0" presId="urn:microsoft.com/office/officeart/2005/8/layout/process1"/>
    <dgm:cxn modelId="{FAA4E098-83F5-4030-AFFB-7317A65C8DC6}" type="presOf" srcId="{6AA55283-BF8B-4BE5-A399-7C1EEBCAA660}" destId="{DA0A1A2B-138F-4DCA-98F9-78B5DD65B7FD}" srcOrd="0" destOrd="0" presId="urn:microsoft.com/office/officeart/2005/8/layout/process1"/>
    <dgm:cxn modelId="{DBA8E29C-6120-4A57-BCE7-C8ACF70810FB}" type="presOf" srcId="{FF759B2A-4029-4651-9E19-4324866EC48F}" destId="{997B456F-79E6-4A5B-8E70-81FD8AC22825}" srcOrd="0" destOrd="0" presId="urn:microsoft.com/office/officeart/2005/8/layout/process1"/>
    <dgm:cxn modelId="{C8C7A8A0-CC81-43F2-B3E7-75020B1E5E8F}" srcId="{6579E95B-1D25-47A1-A395-F3A4C47122F9}" destId="{B9A0D485-D4F1-4AA8-BCB0-CAEF5B15030A}" srcOrd="0" destOrd="0" parTransId="{42BC4058-3FF8-4183-8292-4D5164D83FE0}" sibTransId="{FF759B2A-4029-4651-9E19-4324866EC48F}"/>
    <dgm:cxn modelId="{383F74AE-692D-485A-8F74-1B90FF4FE309}" type="presOf" srcId="{6579E95B-1D25-47A1-A395-F3A4C47122F9}" destId="{67F022E8-63EF-4DEF-80BF-A4E02D205CE9}" srcOrd="0" destOrd="0" presId="urn:microsoft.com/office/officeart/2005/8/layout/process1"/>
    <dgm:cxn modelId="{AD2FF9C7-DA71-42DC-8FB4-E18D567D328A}" type="presOf" srcId="{F07722EC-8012-4D66-8CB7-A6C338EAD790}" destId="{96E0C734-DCF6-4990-AA77-E8718F247730}" srcOrd="0" destOrd="0" presId="urn:microsoft.com/office/officeart/2005/8/layout/process1"/>
    <dgm:cxn modelId="{43EB87D5-E835-4BB9-83DB-C75FC9E2680D}" type="presOf" srcId="{FF759B2A-4029-4651-9E19-4324866EC48F}" destId="{3376212D-2C74-47D1-816E-9A21EC04CC71}" srcOrd="1" destOrd="0" presId="urn:microsoft.com/office/officeart/2005/8/layout/process1"/>
    <dgm:cxn modelId="{1714ACDD-F7C9-45E0-B97C-37BDC1025283}" srcId="{6579E95B-1D25-47A1-A395-F3A4C47122F9}" destId="{6AA55283-BF8B-4BE5-A399-7C1EEBCAA660}" srcOrd="4" destOrd="0" parTransId="{B7EC1648-741A-4D96-AC4F-C7A3974D6A35}" sibTransId="{891580C8-676D-4961-A154-8B85D5909A72}"/>
    <dgm:cxn modelId="{48398CEB-4344-44D2-B72F-8650C120491E}" type="presOf" srcId="{7DABFE3A-C7BD-44BC-86AD-0D3B59DC6775}" destId="{195B570D-73D2-4469-A3A6-BF33B97A91D2}" srcOrd="1" destOrd="0" presId="urn:microsoft.com/office/officeart/2005/8/layout/process1"/>
    <dgm:cxn modelId="{47CD52F5-A3C5-4B2D-9C29-180BAA42223B}" type="presOf" srcId="{B9A0D485-D4F1-4AA8-BCB0-CAEF5B15030A}" destId="{C8BE8134-A8EB-4369-A3BB-8760FD2C39F8}" srcOrd="0" destOrd="0" presId="urn:microsoft.com/office/officeart/2005/8/layout/process1"/>
    <dgm:cxn modelId="{0C7BEFC5-608E-4622-84D6-DC53FAF3283F}" type="presParOf" srcId="{67F022E8-63EF-4DEF-80BF-A4E02D205CE9}" destId="{C8BE8134-A8EB-4369-A3BB-8760FD2C39F8}" srcOrd="0" destOrd="0" presId="urn:microsoft.com/office/officeart/2005/8/layout/process1"/>
    <dgm:cxn modelId="{C38E8F66-6435-42D4-8034-85B5F4D83255}" type="presParOf" srcId="{67F022E8-63EF-4DEF-80BF-A4E02D205CE9}" destId="{997B456F-79E6-4A5B-8E70-81FD8AC22825}" srcOrd="1" destOrd="0" presId="urn:microsoft.com/office/officeart/2005/8/layout/process1"/>
    <dgm:cxn modelId="{566CAC10-E624-4645-A335-63E0914D7A68}" type="presParOf" srcId="{997B456F-79E6-4A5B-8E70-81FD8AC22825}" destId="{3376212D-2C74-47D1-816E-9A21EC04CC71}" srcOrd="0" destOrd="0" presId="urn:microsoft.com/office/officeart/2005/8/layout/process1"/>
    <dgm:cxn modelId="{A8A1A742-B8B4-4B2C-8397-C1DCD176607B}" type="presParOf" srcId="{67F022E8-63EF-4DEF-80BF-A4E02D205CE9}" destId="{96E0C734-DCF6-4990-AA77-E8718F247730}" srcOrd="2" destOrd="0" presId="urn:microsoft.com/office/officeart/2005/8/layout/process1"/>
    <dgm:cxn modelId="{59F26D52-4851-4572-B219-EE4BB72F27DB}" type="presParOf" srcId="{67F022E8-63EF-4DEF-80BF-A4E02D205CE9}" destId="{CA03C3C0-1A43-4FD1-B21E-19614510C889}" srcOrd="3" destOrd="0" presId="urn:microsoft.com/office/officeart/2005/8/layout/process1"/>
    <dgm:cxn modelId="{5A369527-FAD9-44EA-B811-4281511FABEC}" type="presParOf" srcId="{CA03C3C0-1A43-4FD1-B21E-19614510C889}" destId="{F2CCEC77-60CA-41DD-8CCB-18A64EEAAD04}" srcOrd="0" destOrd="0" presId="urn:microsoft.com/office/officeart/2005/8/layout/process1"/>
    <dgm:cxn modelId="{C87C1F9E-4A0A-4365-9669-2BF47E435ADE}" type="presParOf" srcId="{67F022E8-63EF-4DEF-80BF-A4E02D205CE9}" destId="{9CAA968E-7C54-45F6-A3A0-1BAD29CAE8C6}" srcOrd="4" destOrd="0" presId="urn:microsoft.com/office/officeart/2005/8/layout/process1"/>
    <dgm:cxn modelId="{11EA026E-9394-4952-B0B7-87974DD5E120}" type="presParOf" srcId="{67F022E8-63EF-4DEF-80BF-A4E02D205CE9}" destId="{B196C6D9-F756-49A1-8E72-8398E618922C}" srcOrd="5" destOrd="0" presId="urn:microsoft.com/office/officeart/2005/8/layout/process1"/>
    <dgm:cxn modelId="{527F45C8-0628-47E9-9A73-F0EBC1E3153B}" type="presParOf" srcId="{B196C6D9-F756-49A1-8E72-8398E618922C}" destId="{A3086B9D-9FB2-466D-B572-0F0650DB511E}" srcOrd="0" destOrd="0" presId="urn:microsoft.com/office/officeart/2005/8/layout/process1"/>
    <dgm:cxn modelId="{13045663-BD67-4685-95F4-D74DEA011CF1}" type="presParOf" srcId="{67F022E8-63EF-4DEF-80BF-A4E02D205CE9}" destId="{A14E462F-8D5E-4602-BDEE-3B9EBE340BAB}" srcOrd="6" destOrd="0" presId="urn:microsoft.com/office/officeart/2005/8/layout/process1"/>
    <dgm:cxn modelId="{61B4B899-0B89-4C49-9343-15036861CED4}" type="presParOf" srcId="{67F022E8-63EF-4DEF-80BF-A4E02D205CE9}" destId="{AAF4E498-6A2C-4E1A-BD22-D89E7E5C930F}" srcOrd="7" destOrd="0" presId="urn:microsoft.com/office/officeart/2005/8/layout/process1"/>
    <dgm:cxn modelId="{EA500473-B55A-4817-AB43-EE563F7B3EA1}" type="presParOf" srcId="{AAF4E498-6A2C-4E1A-BD22-D89E7E5C930F}" destId="{195B570D-73D2-4469-A3A6-BF33B97A91D2}" srcOrd="0" destOrd="0" presId="urn:microsoft.com/office/officeart/2005/8/layout/process1"/>
    <dgm:cxn modelId="{D2985EE2-147E-4A08-A82D-A516F5804CE8}" type="presParOf" srcId="{67F022E8-63EF-4DEF-80BF-A4E02D205CE9}" destId="{DA0A1A2B-138F-4DCA-98F9-78B5DD65B7F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E8134-A8EB-4369-A3BB-8760FD2C39F8}">
      <dsp:nvSpPr>
        <dsp:cNvPr id="0" name=""/>
        <dsp:cNvSpPr/>
      </dsp:nvSpPr>
      <dsp:spPr>
        <a:xfrm>
          <a:off x="6000" y="2653309"/>
          <a:ext cx="1860232" cy="2319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1. Voice Interview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Candidates</a:t>
          </a:r>
          <a:r>
            <a:rPr lang="en-US" sz="1100" b="0" i="0" kern="1200" dirty="0"/>
            <a:t> speak directly to </a:t>
          </a:r>
          <a:r>
            <a:rPr lang="en-US" sz="1100" b="1" i="0" kern="1200" dirty="0"/>
            <a:t>CA</a:t>
          </a:r>
          <a:r>
            <a:rPr lang="en-US" sz="1100" b="0" i="0" kern="1200" dirty="0"/>
            <a:t>. He conducts a voice interview to understand their skills, experience, and career goals.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Hiring Managers</a:t>
          </a:r>
          <a:r>
            <a:rPr lang="en-US" sz="1100" b="0" i="0" kern="1200" dirty="0"/>
            <a:t> speak directly to </a:t>
          </a:r>
          <a:r>
            <a:rPr lang="en-US" sz="1100" b="1" i="0" kern="1200" dirty="0"/>
            <a:t>EA</a:t>
          </a:r>
          <a:r>
            <a:rPr lang="en-US" sz="1100" b="0" i="0" kern="1200" dirty="0"/>
            <a:t>. She conducts a voice interview to understand the open role, requirements, and ideal candidate profile.</a:t>
          </a:r>
          <a:endParaRPr lang="en-IN" sz="1100" kern="1200" dirty="0"/>
        </a:p>
      </dsp:txBody>
      <dsp:txXfrm>
        <a:off x="60484" y="2707793"/>
        <a:ext cx="1751264" cy="2210509"/>
      </dsp:txXfrm>
    </dsp:sp>
    <dsp:sp modelId="{997B456F-79E6-4A5B-8E70-81FD8AC22825}">
      <dsp:nvSpPr>
        <dsp:cNvPr id="0" name=""/>
        <dsp:cNvSpPr/>
      </dsp:nvSpPr>
      <dsp:spPr>
        <a:xfrm>
          <a:off x="2052256" y="3582379"/>
          <a:ext cx="394369" cy="4613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2052256" y="3674646"/>
        <a:ext cx="276058" cy="276803"/>
      </dsp:txXfrm>
    </dsp:sp>
    <dsp:sp modelId="{96E0C734-DCF6-4990-AA77-E8718F247730}">
      <dsp:nvSpPr>
        <dsp:cNvPr id="0" name=""/>
        <dsp:cNvSpPr/>
      </dsp:nvSpPr>
      <dsp:spPr>
        <a:xfrm>
          <a:off x="2610326" y="2653309"/>
          <a:ext cx="1860232" cy="2319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2. The Agent Collaboration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After a successful voice interview, both the agents share a one page summary with each other to see if they have matching roles for the candidates.</a:t>
          </a:r>
          <a:endParaRPr lang="en-IN" sz="1100" kern="1200" dirty="0"/>
        </a:p>
      </dsp:txBody>
      <dsp:txXfrm>
        <a:off x="2664810" y="2707793"/>
        <a:ext cx="1751264" cy="2210509"/>
      </dsp:txXfrm>
    </dsp:sp>
    <dsp:sp modelId="{CA03C3C0-1A43-4FD1-B21E-19614510C889}">
      <dsp:nvSpPr>
        <dsp:cNvPr id="0" name=""/>
        <dsp:cNvSpPr/>
      </dsp:nvSpPr>
      <dsp:spPr>
        <a:xfrm>
          <a:off x="4656582" y="3582379"/>
          <a:ext cx="394369" cy="4613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4656582" y="3674646"/>
        <a:ext cx="276058" cy="276803"/>
      </dsp:txXfrm>
    </dsp:sp>
    <dsp:sp modelId="{9CAA968E-7C54-45F6-A3A0-1BAD29CAE8C6}">
      <dsp:nvSpPr>
        <dsp:cNvPr id="0" name=""/>
        <dsp:cNvSpPr/>
      </dsp:nvSpPr>
      <dsp:spPr>
        <a:xfrm>
          <a:off x="5214651" y="2653309"/>
          <a:ext cx="1860232" cy="2319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3.  The Scout Layer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Sometimes the agents won’t have an immediate match in the database, this is when they call </a:t>
          </a:r>
          <a:r>
            <a:rPr lang="en-IN" sz="1100" b="1" kern="1200" dirty="0"/>
            <a:t>Scout. </a:t>
          </a:r>
          <a:endParaRPr lang="en-IN" sz="1100" b="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When EA has an opening but no internal candidates, Scout searches LinkedIn via x-ray search to find profiles which match the job description and sends them to the CA to initiate contact with the candidates</a:t>
          </a:r>
          <a:endParaRPr lang="en-IN" sz="1100" kern="1200" dirty="0"/>
        </a:p>
      </dsp:txBody>
      <dsp:txXfrm>
        <a:off x="5269135" y="2707793"/>
        <a:ext cx="1751264" cy="2210509"/>
      </dsp:txXfrm>
    </dsp:sp>
    <dsp:sp modelId="{B196C6D9-F756-49A1-8E72-8398E618922C}">
      <dsp:nvSpPr>
        <dsp:cNvPr id="0" name=""/>
        <dsp:cNvSpPr/>
      </dsp:nvSpPr>
      <dsp:spPr>
        <a:xfrm rot="6881659">
          <a:off x="5944254" y="5357541"/>
          <a:ext cx="881703" cy="4613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10800000">
        <a:off x="6042365" y="5386936"/>
        <a:ext cx="743302" cy="276803"/>
      </dsp:txXfrm>
    </dsp:sp>
    <dsp:sp modelId="{A14E462F-8D5E-4602-BDEE-3B9EBE340BAB}">
      <dsp:nvSpPr>
        <dsp:cNvPr id="0" name=""/>
        <dsp:cNvSpPr/>
      </dsp:nvSpPr>
      <dsp:spPr>
        <a:xfrm>
          <a:off x="4072022" y="5138211"/>
          <a:ext cx="1860232" cy="2319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4. The Scout Layer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CA has a stellar candidate but no internal roles. Scout looks for roles on LinkedIn and sends the leads to the EA. She then initiates contact with the hiring managers at those companies.</a:t>
          </a:r>
        </a:p>
      </dsp:txBody>
      <dsp:txXfrm>
        <a:off x="4126506" y="5192695"/>
        <a:ext cx="1751264" cy="2210509"/>
      </dsp:txXfrm>
    </dsp:sp>
    <dsp:sp modelId="{AAF4E498-6A2C-4E1A-BD22-D89E7E5C930F}">
      <dsp:nvSpPr>
        <dsp:cNvPr id="0" name=""/>
        <dsp:cNvSpPr/>
      </dsp:nvSpPr>
      <dsp:spPr>
        <a:xfrm rot="10800000">
          <a:off x="3376175" y="6067281"/>
          <a:ext cx="472819" cy="4613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10800000">
        <a:off x="3514576" y="6159548"/>
        <a:ext cx="334418" cy="276803"/>
      </dsp:txXfrm>
    </dsp:sp>
    <dsp:sp modelId="{DA0A1A2B-138F-4DCA-98F9-78B5DD65B7FD}">
      <dsp:nvSpPr>
        <dsp:cNvPr id="0" name=""/>
        <dsp:cNvSpPr/>
      </dsp:nvSpPr>
      <dsp:spPr>
        <a:xfrm>
          <a:off x="1319678" y="5138211"/>
          <a:ext cx="1860232" cy="2319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5. Output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Both the agents send messages to candidates and employers about relevant job opening and candidates respectively.</a:t>
          </a:r>
        </a:p>
      </dsp:txBody>
      <dsp:txXfrm>
        <a:off x="1374162" y="5192695"/>
        <a:ext cx="1751264" cy="2210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D615-B416-DDDB-C0D1-DDA613993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Revolutionizing Recruitment in India</a:t>
            </a: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20AB6-79DD-B890-5E63-35173D031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1600200"/>
            <a:ext cx="8759952" cy="37080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AI-Powered Conversational Hiring Platform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Connecting </a:t>
            </a:r>
            <a:r>
              <a:rPr lang="en-US" sz="2800" b="1" dirty="0"/>
              <a:t>millions of job seekers</a:t>
            </a:r>
            <a:r>
              <a:rPr lang="en-US" sz="2800" dirty="0"/>
              <a:t> with their ideal employers through intelligent conversations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Making hiring human, efficient, and accessible for India's diverse workforce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14ACC5-0DF5-AE07-1759-5E5AD44EEC59}"/>
              </a:ext>
            </a:extLst>
          </p:cNvPr>
          <p:cNvSpPr txBox="1"/>
          <p:nvPr/>
        </p:nvSpPr>
        <p:spPr>
          <a:xfrm>
            <a:off x="6922008" y="5728608"/>
            <a:ext cx="2889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Kushagra Jajodia</a:t>
            </a:r>
          </a:p>
          <a:p>
            <a:r>
              <a:rPr lang="en-US" dirty="0"/>
              <a:t>     (December 2025)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081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5ACC-25FF-4EC2-556B-3CC12791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The Problem</a:t>
            </a: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B76911-F282-2072-73D1-B6DA75C25041}"/>
              </a:ext>
            </a:extLst>
          </p:cNvPr>
          <p:cNvSpPr txBox="1"/>
          <p:nvPr/>
        </p:nvSpPr>
        <p:spPr>
          <a:xfrm>
            <a:off x="137160" y="1673352"/>
            <a:ext cx="876909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For Job Seekers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Resumes reduce candidates to keywords, missing real skills and potential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Language barriers and formatting requirements exclude capable talent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Endless applications with no feedback lead to wasted effort and ghosting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No access to personalised career guidance or mentor in the market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chemeClr val="accent4"/>
                </a:solidFill>
              </a:rPr>
              <a:t>For Employers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High volume of irrelevant applications overwhelms recruiters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Cannot assess communication, motivation and cultural fit early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Passive job boards slow hiring and miss quality candidates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Manual screening drivers up costs and delays business outcomes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49430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5739-802A-9A7E-0D6B-89BBC76D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153A9-3B5A-4538-F833-8ECDA97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074152" cy="7223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The Solution</a:t>
            </a: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5FED9F-E23F-EE36-67EC-79A0C5D75EEF}"/>
              </a:ext>
            </a:extLst>
          </p:cNvPr>
          <p:cNvSpPr txBox="1"/>
          <p:nvPr/>
        </p:nvSpPr>
        <p:spPr>
          <a:xfrm>
            <a:off x="187452" y="928455"/>
            <a:ext cx="8769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 conversational AI agents (name </a:t>
            </a:r>
            <a:r>
              <a:rPr lang="en-US" sz="2000" dirty="0" err="1"/>
              <a:t>tbd</a:t>
            </a:r>
            <a:r>
              <a:rPr lang="en-US" sz="2000" dirty="0"/>
              <a:t>), 1 for the candidate and the other for the employer that replaces resumes with natural conversations in multiple languages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11E9F-C74C-9C89-9A91-1B2065FBF3AF}"/>
              </a:ext>
            </a:extLst>
          </p:cNvPr>
          <p:cNvSpPr txBox="1"/>
          <p:nvPr/>
        </p:nvSpPr>
        <p:spPr>
          <a:xfrm>
            <a:off x="187452" y="1875877"/>
            <a:ext cx="876909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For Job Seekers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Chat in Hindi, English, Tamil, Telugu, Bengali, and more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AI understands skills, experience, and aspirations, cultural fit through conversation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Get matched with relevant jobs automatically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Practice interviews with AI feedback in your language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Works on basic smartphones with WhatsApp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>
                <a:solidFill>
                  <a:schemeClr val="accent4"/>
                </a:solidFill>
              </a:rPr>
              <a:t>For Employers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 conducts initial screening conversations at scale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Get pre-qualified candidates ranked by fit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 time-to-hire by 70%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Access to more relevant candidates quicker and cheaper than job board listings or human headhunters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3514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6DC45-4140-09F6-107C-4BA03D7A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D840315-F9F1-AAD4-2845-D03B5B86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88" y="1431036"/>
            <a:ext cx="8052955" cy="39959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826CB-DE2A-07E4-65F8-52FF815B5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074152" cy="7223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How it works</a:t>
            </a:r>
            <a:endParaRPr lang="en-IN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3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1B701-4E8A-166F-B67F-6719A754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CE6A-63F2-A206-FF03-A8FC5B7C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074152" cy="7223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How it works</a:t>
            </a:r>
            <a:endParaRPr lang="en-IN" dirty="0">
              <a:solidFill>
                <a:schemeClr val="accent4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F30C4E3-297B-7D50-0375-55BE0849CC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9391905"/>
              </p:ext>
            </p:extLst>
          </p:nvPr>
        </p:nvGraphicFramePr>
        <p:xfrm>
          <a:off x="877824" y="-1399032"/>
          <a:ext cx="12289536" cy="7626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2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B6C6C-72D2-685F-DD86-C0542F8D7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8AA2-1C7F-085B-2B44-C213BDE0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572"/>
            <a:ext cx="8074152" cy="7223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Why we’ll win</a:t>
            </a: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A88E16-C44A-7745-84BF-75F9150BD398}"/>
              </a:ext>
            </a:extLst>
          </p:cNvPr>
          <p:cNvSpPr txBox="1"/>
          <p:nvPr/>
        </p:nvSpPr>
        <p:spPr>
          <a:xfrm>
            <a:off x="-19336" y="909661"/>
            <a:ext cx="89896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Built for India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Multilingual AI- Support for 10+ Indian languages from day 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Mobile First- Compatible with smartphones with WhatsApp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 Bandwidth- Optimised for 2G/3G networks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Cultural Context- Understands Indian education system, job roles, and preferences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Superior Technology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Advanced Natural Language training on Indian English and vernacular languages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Voice-enabled for low literacy populations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Smart matching algorithm considers location, salary, skills, and growth potential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Bias-free screening focused on capabilities, not credentials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Revenue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Subscription Model- ₹5,000 - ₹50,000/month based on company size and hiring volume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Pay per Hire- 10% of annual CTC or a fixed amount per successful hire (flexible for SMEs)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Premium Features- Advanced analytics, employer branding, skill assessments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Freemium for Job Seekers: Free matching + premium services (resume building, interview preparation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786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596</Words>
  <Application>Microsoft Office PowerPoint</Application>
  <PresentationFormat>On-screen Show (4:3)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Revolutionizing Recruitment in India</vt:lpstr>
      <vt:lpstr>The Problem</vt:lpstr>
      <vt:lpstr>The Solution</vt:lpstr>
      <vt:lpstr>How it works</vt:lpstr>
      <vt:lpstr>How it works</vt:lpstr>
      <vt:lpstr>Why we’ll win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Kushagra</dc:creator>
  <cp:keywords/>
  <dc:description>generated using python-pptx</dc:description>
  <cp:lastModifiedBy>Kushagra Jajodia</cp:lastModifiedBy>
  <cp:revision>2</cp:revision>
  <dcterms:created xsi:type="dcterms:W3CDTF">2013-01-27T09:14:16Z</dcterms:created>
  <dcterms:modified xsi:type="dcterms:W3CDTF">2025-12-16T20:26:46Z</dcterms:modified>
  <cp:category/>
</cp:coreProperties>
</file>